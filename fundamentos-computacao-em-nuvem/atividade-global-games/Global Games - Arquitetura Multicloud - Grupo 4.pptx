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4C35000-C894-43B8-A532-E0E57ACEE21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A3465DC-2879-4A20-A5BD-D621C042576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7D82E44-75DB-4B52-B572-B0DAA5C1F40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5935079-B6CC-4BED-98BE-FE1E69CA03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2ECD1CF-3285-443F-8BB7-F97176929D8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FE62C93-4667-4006-9A56-44400D42B42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6B4F65C-E742-485E-907F-90790CACD97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7F16DA7-1C1D-446E-982A-BAAF6A12DF0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D78E463-9FC3-4924-A1C6-3E0B6A1F892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65CF301-A1F8-49AD-9CAC-441E3776EEB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B092A38-A07E-4B37-A540-8650B2AB61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1997AAE-79E0-4140-B9EE-35FAA43EAB6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45A6D56-4071-441F-8811-4985C8E1C1D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6.png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503920" y="-1463040"/>
            <a:ext cx="5028840" cy="5028840"/>
          </a:xfrm>
          <a:prstGeom prst="ellipse">
            <a:avLst/>
          </a:prstGeom>
          <a:solidFill>
            <a:srgbClr val="1E2761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058400" y="-274320"/>
            <a:ext cx="2925720" cy="2925720"/>
          </a:xfrm>
          <a:prstGeom prst="ellipse">
            <a:avLst/>
          </a:prstGeom>
          <a:solidFill>
            <a:srgbClr val="16C79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280160" y="4206240"/>
            <a:ext cx="4114440" cy="4114440"/>
          </a:xfrm>
          <a:prstGeom prst="ellipse">
            <a:avLst/>
          </a:prstGeom>
          <a:solidFill>
            <a:srgbClr val="1E2761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19659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TRABALHO — GRUPO 4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77240" y="233172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Global Games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3429000"/>
            <a:ext cx="8960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Arquitetura Multicloud para Alta Disponibilidade e Inovação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77240" y="5897880"/>
            <a:ext cx="8960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Cauê, Pedro Levi, Mateus Ferreira, Matheus Varani e Wallison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CONTEXTUALIZAÇÃO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 desafio da Global Games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150876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A empresa está em rápida expansão internacional, mas depende de um único provedor de nuvem pública, o que expõe três riscos estratégicos ao negócio.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548640" y="2331720"/>
            <a:ext cx="3428640" cy="324576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 w="0">
            <a:noFill/>
          </a:ln>
          <a:effectLst>
            <a:outerShdw algn="bl" blurRad="101520" dir="5400000" dist="38160" rotWithShape="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868680" y="269748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/home/claude/global-games/icons/link_FFFFFF.png"/>
          <p:cNvPicPr/>
          <p:nvPr/>
        </p:nvPicPr>
        <p:blipFill>
          <a:blip r:embed="rId1"/>
          <a:stretch/>
        </p:blipFill>
        <p:spPr>
          <a:xfrm>
            <a:off x="1040040" y="28688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5"/>
          <p:cNvSpPr/>
          <p:nvPr/>
        </p:nvSpPr>
        <p:spPr>
          <a:xfrm>
            <a:off x="868680" y="35661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Vendor Lock-in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868680" y="4041720"/>
            <a:ext cx="278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Aprisionamento tecnológico a um único fornecedor, limitando negociação e flexibilidade futura.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4297680" y="2331720"/>
            <a:ext cx="3428640" cy="324576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 w="0">
            <a:noFill/>
          </a:ln>
          <a:effectLst>
            <a:outerShdw algn="bl" blurRad="101520" dir="5400000" dist="38160" rotWithShape="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4617720" y="269748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/home/claude/global-games/icons/alert_FFFFFF.png"/>
          <p:cNvPicPr/>
          <p:nvPr/>
        </p:nvPicPr>
        <p:blipFill>
          <a:blip r:embed="rId2"/>
          <a:stretch/>
        </p:blipFill>
        <p:spPr>
          <a:xfrm>
            <a:off x="4789080" y="28688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9"/>
          <p:cNvSpPr/>
          <p:nvPr/>
        </p:nvSpPr>
        <p:spPr>
          <a:xfrm>
            <a:off x="4617720" y="35661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Ponto único de falha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617720" y="4041720"/>
            <a:ext cx="278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Uma falha generalizada do provedor pode derrubar todos os jogos ao mesmo tempo.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8046720" y="2331720"/>
            <a:ext cx="3428640" cy="324576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 w="0">
            <a:noFill/>
          </a:ln>
          <a:effectLst>
            <a:outerShdw algn="bl" blurRad="101520" dir="5400000" dist="38160" rotWithShape="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8366760" y="269748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2" descr="/home/claude/global-games/icons/cpu_FFFFFF.png"/>
          <p:cNvPicPr/>
          <p:nvPr/>
        </p:nvPicPr>
        <p:blipFill>
          <a:blip r:embed="rId3"/>
          <a:stretch/>
        </p:blipFill>
        <p:spPr>
          <a:xfrm>
            <a:off x="8538120" y="28688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3"/>
          <p:cNvSpPr/>
          <p:nvPr/>
        </p:nvSpPr>
        <p:spPr>
          <a:xfrm>
            <a:off x="8366760" y="35661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IA de outro provedor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8366760" y="4041720"/>
            <a:ext cx="278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A engenharia quer usar a IA que considera a melhor do mercado — hoje fora do provedor atual.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ESCOLHA DO TIPO DE NUVEM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 que é uma arquitetura Multicloud?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548640" y="1600200"/>
            <a:ext cx="10606680" cy="105120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868680" y="1600200"/>
            <a:ext cx="9966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Multicloud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é o suporte de um ou mais projetos à comunicação com mais de um provedor de computação em nuvem simultaneamente.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548640" y="292608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Por que nuvem, para começar?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548640" y="3429000"/>
            <a:ext cx="502560" cy="502560"/>
          </a:xfrm>
          <a:prstGeom prst="ellipse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0" descr="/home/claude/global-games/icons/server_1E2761.png"/>
          <p:cNvPicPr/>
          <p:nvPr/>
        </p:nvPicPr>
        <p:blipFill>
          <a:blip r:embed="rId1"/>
          <a:stretch/>
        </p:blipFill>
        <p:spPr>
          <a:xfrm>
            <a:off x="661680" y="354204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6"/>
          <p:cNvSpPr/>
          <p:nvPr/>
        </p:nvSpPr>
        <p:spPr>
          <a:xfrm>
            <a:off x="1234440" y="3447360"/>
            <a:ext cx="969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Evita o custo de compra de hardware, infraestrutura própria e tempo de configuração de servidores.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548640" y="4206240"/>
            <a:ext cx="502560" cy="502560"/>
          </a:xfrm>
          <a:prstGeom prst="ellipse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1" descr="/home/claude/global-games/icons/globe_1E2761.png"/>
          <p:cNvPicPr/>
          <p:nvPr/>
        </p:nvPicPr>
        <p:blipFill>
          <a:blip r:embed="rId2"/>
          <a:stretch/>
        </p:blipFill>
        <p:spPr>
          <a:xfrm>
            <a:off x="661680" y="431928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8"/>
          <p:cNvSpPr/>
          <p:nvPr/>
        </p:nvSpPr>
        <p:spPr>
          <a:xfrm>
            <a:off x="1234440" y="4224600"/>
            <a:ext cx="969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Acesso a zonas de disponibilidade espalhadas pelo mundo, alcançando uma base de clientes muito mais ampla.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548640" y="4983480"/>
            <a:ext cx="502560" cy="502560"/>
          </a:xfrm>
          <a:prstGeom prst="ellipse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2" descr="/home/claude/global-games/icons/zap_1E2761.png"/>
          <p:cNvPicPr/>
          <p:nvPr/>
        </p:nvPicPr>
        <p:blipFill>
          <a:blip r:embed="rId3"/>
          <a:stretch/>
        </p:blipFill>
        <p:spPr>
          <a:xfrm>
            <a:off x="661680" y="509652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10"/>
          <p:cNvSpPr/>
          <p:nvPr/>
        </p:nvSpPr>
        <p:spPr>
          <a:xfrm>
            <a:off x="1234440" y="5001840"/>
            <a:ext cx="969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Latência otimizada por região, essencial para um jogo multiplayer em tempo real.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ESCOLHA DO TIPO DE NUVEM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Multicloud: inovação e independência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94360" y="1645920"/>
            <a:ext cx="5120280" cy="441180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914400" y="196596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/home/claude/global-games/icons/link_FFFFFF.png"/>
          <p:cNvPicPr/>
          <p:nvPr/>
        </p:nvPicPr>
        <p:blipFill>
          <a:blip r:embed="rId1"/>
          <a:stretch/>
        </p:blipFill>
        <p:spPr>
          <a:xfrm>
            <a:off x="1063080" y="211464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4"/>
          <p:cNvSpPr/>
          <p:nvPr/>
        </p:nvSpPr>
        <p:spPr>
          <a:xfrm>
            <a:off x="1645920" y="199332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Evita o aprisionamento tecnológico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914400" y="2743200"/>
            <a:ext cx="44344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Se o custo de um serviço essencial subir, a migração para outra plataforma é bem menos complicada.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Quanto mais serviços específicos e proprietários usamos, mais reféns ficamos, o equilíbrio ideal é abstrair ao máximo a aplicação do ambiente do provedor, assim como se separa a UI da lógica em um jogo.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5852160" y="1645920"/>
            <a:ext cx="5760360" cy="441180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6217920" y="1965960"/>
            <a:ext cx="594000" cy="59400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" descr="/home/claude/global-games/icons/cpu_1E2761.png"/>
          <p:cNvPicPr/>
          <p:nvPr/>
        </p:nvPicPr>
        <p:blipFill>
          <a:blip r:embed="rId2"/>
          <a:stretch/>
        </p:blipFill>
        <p:spPr>
          <a:xfrm>
            <a:off x="6366600" y="211464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8"/>
          <p:cNvSpPr/>
          <p:nvPr/>
        </p:nvSpPr>
        <p:spPr>
          <a:xfrm>
            <a:off x="6949440" y="199332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Acesso ao melhor de cada mercado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6217920" y="2743200"/>
            <a:ext cx="51202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Provedores dedicados a um setor específico (como IA) tendem a oferecer recursos mais avançados e, por foco, preços mais competitivos do que um provedor generalista.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Como a IA da Global Games é voltada ao time de engenharia (não integrada ao jogo em si), ela pode residir num provedor diferente do banco de dados sem prejuízo de performance.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DESAFIOS E GESTÃO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Os desafios operacionais do Multicloud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150876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Usar mais de um provedor traz, de imediato, duas questões centrais: menor dependência de um único fornecedor, mas também mais complexidade de gestão.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" y="2286000"/>
            <a:ext cx="3428640" cy="32914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868680" y="265176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/home/claude/global-games/icons/settings_FFFFFF.png"/>
          <p:cNvPicPr/>
          <p:nvPr/>
        </p:nvPicPr>
        <p:blipFill>
          <a:blip r:embed="rId1"/>
          <a:stretch/>
        </p:blipFill>
        <p:spPr>
          <a:xfrm>
            <a:off x="1040040" y="28231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5"/>
          <p:cNvSpPr/>
          <p:nvPr/>
        </p:nvSpPr>
        <p:spPr>
          <a:xfrm>
            <a:off x="868680" y="352044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Ferramentas de gestão distintas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868680" y="4023360"/>
            <a:ext cx="278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Cada provedor possui sua própria interface de gerenciamento e forma de configurar serviços.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4297680" y="2286000"/>
            <a:ext cx="3428640" cy="32914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4617720" y="265176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1" descr="/home/claude/global-games/icons/shield_FFFFFF.png"/>
          <p:cNvPicPr/>
          <p:nvPr/>
        </p:nvPicPr>
        <p:blipFill>
          <a:blip r:embed="rId2"/>
          <a:stretch/>
        </p:blipFill>
        <p:spPr>
          <a:xfrm>
            <a:off x="4789080" y="28231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9"/>
          <p:cNvSpPr/>
          <p:nvPr/>
        </p:nvSpPr>
        <p:spPr>
          <a:xfrm>
            <a:off x="4617720" y="352044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Protocolos de segurança diferentes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4617720" y="4023360"/>
            <a:ext cx="278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Autenticação, controle de acesso e criptografia variam entre AWS, GCP e demais provedores.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8046720" y="2286000"/>
            <a:ext cx="3428640" cy="32914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8366760" y="265176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2" descr="/home/claude/global-games/icons/eye_FFFFFF.png"/>
          <p:cNvPicPr/>
          <p:nvPr/>
        </p:nvPicPr>
        <p:blipFill>
          <a:blip r:embed="rId3"/>
          <a:stretch/>
        </p:blipFill>
        <p:spPr>
          <a:xfrm>
            <a:off x="8538120" y="28231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3"/>
          <p:cNvSpPr/>
          <p:nvPr/>
        </p:nvSpPr>
        <p:spPr>
          <a:xfrm>
            <a:off x="8366760" y="352044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Monitoramento fragmentado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8366760" y="4023360"/>
            <a:ext cx="278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Sem um painel único, acompanhar desempenho e custos em cada nuvem separadamente é ineficiente.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DESAFIOS E GESTÃO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Governança de segurança unificada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155448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 solução não é escolher entre provedores mais seguros, é padronizar a segurança acima deles, com uma política única de governança.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548640" y="2331720"/>
            <a:ext cx="5120280" cy="1782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822960" y="2606040"/>
            <a:ext cx="548280" cy="54828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home/claude/global-games/icons/shield_1E2761.png"/>
          <p:cNvPicPr/>
          <p:nvPr/>
        </p:nvPicPr>
        <p:blipFill>
          <a:blip r:embed="rId1"/>
          <a:stretch/>
        </p:blipFill>
        <p:spPr>
          <a:xfrm>
            <a:off x="960120" y="2743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5"/>
          <p:cNvSpPr/>
          <p:nvPr/>
        </p:nvSpPr>
        <p:spPr>
          <a:xfrm>
            <a:off x="1554480" y="25876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Controle de acesso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822960" y="32004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Padronização de permissões e autenticação entre todas as nuvens utilizadas.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5989320" y="2331720"/>
            <a:ext cx="5120280" cy="1782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6263640" y="2606040"/>
            <a:ext cx="548280" cy="54828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1" descr="/home/claude/global-games/icons/users_1E2761.png"/>
          <p:cNvPicPr/>
          <p:nvPr/>
        </p:nvPicPr>
        <p:blipFill>
          <a:blip r:embed="rId2"/>
          <a:stretch/>
        </p:blipFill>
        <p:spPr>
          <a:xfrm>
            <a:off x="6400800" y="2743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9"/>
          <p:cNvSpPr/>
          <p:nvPr/>
        </p:nvSpPr>
        <p:spPr>
          <a:xfrm>
            <a:off x="6995160" y="25876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Gerenciamento de identidades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6263640" y="32004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Identidade única de usuários e serviços, independente do provedor.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548640" y="4389120"/>
            <a:ext cx="5120280" cy="1782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822960" y="4663440"/>
            <a:ext cx="548280" cy="54828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2" descr="/home/claude/global-games/icons/database_1E2761.png"/>
          <p:cNvPicPr/>
          <p:nvPr/>
        </p:nvPicPr>
        <p:blipFill>
          <a:blip r:embed="rId3"/>
          <a:stretch/>
        </p:blipFill>
        <p:spPr>
          <a:xfrm>
            <a:off x="960120" y="4800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3"/>
          <p:cNvSpPr/>
          <p:nvPr/>
        </p:nvSpPr>
        <p:spPr>
          <a:xfrm>
            <a:off x="1554480" y="46450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Criptografia de dados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822960" y="52578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Regras consistentes de criptografia em repouso e em trânsito em todos os ambientes.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5989320" y="4389120"/>
            <a:ext cx="5120280" cy="1782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6263640" y="4663440"/>
            <a:ext cx="548280" cy="54828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3" descr="/home/claude/global-games/icons/eye_1E2761.png"/>
          <p:cNvPicPr/>
          <p:nvPr/>
        </p:nvPicPr>
        <p:blipFill>
          <a:blip r:embed="rId4"/>
          <a:stretch/>
        </p:blipFill>
        <p:spPr>
          <a:xfrm>
            <a:off x="6400800" y="4800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7"/>
          <p:cNvSpPr/>
          <p:nvPr/>
        </p:nvSpPr>
        <p:spPr>
          <a:xfrm>
            <a:off x="6995160" y="46450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Auditorias contínuas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6263640" y="52578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Revisões regulares de conformidade em cada nuvem, sob um mesmo padrão.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3B8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3B8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DESAFIOS E GESTÃO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Plataformas de gestão multicloud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48640" y="1508760"/>
            <a:ext cx="10606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Para reduzir a complexidade operacional, a Global Games deve adotar uma plataforma de gestão multicloud, um painel único para monitorar, automatizar e proteger todos os ambientes.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2468880"/>
            <a:ext cx="3428640" cy="196560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822960" y="26517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C79A"/>
                </a:solidFill>
                <a:effectLst/>
                <a:uFillTx/>
                <a:latin typeface="Cambria"/>
                <a:ea typeface="Cambria"/>
              </a:rPr>
              <a:t>IBM Cloud Pak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822960" y="3154680"/>
            <a:ext cx="2880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Gestão integrada de aplicações e dados entre múltiplas nuvens.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4297680" y="2468880"/>
            <a:ext cx="3428640" cy="196560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4572000" y="26517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C79A"/>
                </a:solidFill>
                <a:effectLst/>
                <a:uFillTx/>
                <a:latin typeface="Cambria"/>
                <a:ea typeface="Cambria"/>
              </a:rPr>
              <a:t>Microsoft Azure Arc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4572000" y="3154680"/>
            <a:ext cx="2880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Governança e políticas consistentes em qualquer infraestrutura.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046720" y="2468880"/>
            <a:ext cx="3428640" cy="196560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321040" y="26517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C79A"/>
                </a:solidFill>
                <a:effectLst/>
                <a:uFillTx/>
                <a:latin typeface="Cambria"/>
                <a:ea typeface="Cambria"/>
              </a:rPr>
              <a:t>Google Anthos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321040" y="3154680"/>
            <a:ext cx="2880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Orquestração de workloads em contêineres entre provedores.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548640" y="4709160"/>
            <a:ext cx="10606680" cy="95976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822960" y="491940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/home/claude/global-games/icons/check_FFFFFF.png"/>
          <p:cNvPicPr/>
          <p:nvPr/>
        </p:nvPicPr>
        <p:blipFill>
          <a:blip r:embed="rId1"/>
          <a:stretch/>
        </p:blipFill>
        <p:spPr>
          <a:xfrm>
            <a:off x="960120" y="5056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14"/>
          <p:cNvSpPr/>
          <p:nvPr/>
        </p:nvSpPr>
        <p:spPr>
          <a:xfrm>
            <a:off x="1554480" y="4709160"/>
            <a:ext cx="94179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Benefícios: controle de custos, automação de tarefas, aplicação de políticas de segurança e análise de desempenho — em um único painel.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ESCOLHA DOS PROVEDORES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Os provedores escolhidos: AWS + Google Cloud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548640" y="15087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Entre os principais provedores do mercado (AWS, Azure, Google Cloud, Alibaba, IBM), a Global Games combina dois líderes complementares: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548640" y="2194560"/>
            <a:ext cx="5120280" cy="36572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548640" y="2194560"/>
            <a:ext cx="5120280" cy="109440"/>
          </a:xfrm>
          <a:prstGeom prst="rect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868680" y="2514600"/>
            <a:ext cx="639720" cy="63972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/home/claude/global-games/icons/server_FFFFFF.png"/>
          <p:cNvPicPr/>
          <p:nvPr/>
        </p:nvPicPr>
        <p:blipFill>
          <a:blip r:embed="rId1"/>
          <a:stretch/>
        </p:blipFill>
        <p:spPr>
          <a:xfrm>
            <a:off x="1028880" y="2674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6"/>
          <p:cNvSpPr/>
          <p:nvPr/>
        </p:nvSpPr>
        <p:spPr>
          <a:xfrm>
            <a:off x="1691640" y="256032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Amazon Web Services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868680" y="32461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Robustez e liderança em hospedagem de servidores de jogos com baixíssima latência global.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868680" y="3931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Papel na arquitetura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868680" y="4251960"/>
            <a:ext cx="4571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Infraestrutura principal de hospedagem e banco de dados do jogo.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5852160" y="2194560"/>
            <a:ext cx="5760360" cy="36572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5852160" y="2194560"/>
            <a:ext cx="5760360" cy="109440"/>
          </a:xfrm>
          <a:prstGeom prst="rect">
            <a:avLst/>
          </a:prstGeom>
          <a:solidFill>
            <a:srgbClr val="428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6172200" y="2514600"/>
            <a:ext cx="639720" cy="639720"/>
          </a:xfrm>
          <a:prstGeom prst="ellipse">
            <a:avLst/>
          </a:prstGeom>
          <a:solidFill>
            <a:srgbClr val="428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1" descr="/home/claude/global-games/icons/cpu_FFFFFF.png"/>
          <p:cNvPicPr/>
          <p:nvPr/>
        </p:nvPicPr>
        <p:blipFill>
          <a:blip r:embed="rId2"/>
          <a:stretch/>
        </p:blipFill>
        <p:spPr>
          <a:xfrm>
            <a:off x="6332400" y="2674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13"/>
          <p:cNvSpPr/>
          <p:nvPr/>
        </p:nvSpPr>
        <p:spPr>
          <a:xfrm>
            <a:off x="6995160" y="256032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Google Cloud Platform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6172200" y="324612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Liderança em inteligência artificial e processamento analítico de Big Data.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172200" y="3931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Papel na arquitetura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6172200" y="4251960"/>
            <a:ext cx="512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Camada especializada em IA, anti-cheat, moderação e analytics de telemetria.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ESCOLHA DOS PROVEDORES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AWS — Hospedagem e dados do jogo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548640" y="1737360"/>
            <a:ext cx="10606680" cy="1416960"/>
          </a:xfrm>
          <a:prstGeom prst="roundRect">
            <a:avLst>
              <a:gd name="adj" fmla="val 7742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822960" y="2030040"/>
            <a:ext cx="822600" cy="82260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0" descr="/home/claude/global-games/icons/server_FFFFFF.png"/>
          <p:cNvPicPr/>
          <p:nvPr/>
        </p:nvPicPr>
        <p:blipFill>
          <a:blip r:embed="rId1"/>
          <a:stretch/>
        </p:blipFill>
        <p:spPr>
          <a:xfrm>
            <a:off x="1028880" y="22356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4"/>
          <p:cNvSpPr/>
          <p:nvPr/>
        </p:nvSpPr>
        <p:spPr>
          <a:xfrm>
            <a:off x="1828800" y="1901880"/>
            <a:ext cx="9052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Amazon GameLift + EC2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1828800" y="2304360"/>
            <a:ext cx="905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Execução e dimensionamento automático de servidores multiplayer dedicados em tempo real, com baixa latência global.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548640" y="3337560"/>
            <a:ext cx="10606680" cy="1416960"/>
          </a:xfrm>
          <a:prstGeom prst="roundRect">
            <a:avLst>
              <a:gd name="adj" fmla="val 7742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822960" y="3630240"/>
            <a:ext cx="822600" cy="82260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1" descr="/home/claude/global-games/icons/database_FFFFFF.png"/>
          <p:cNvPicPr/>
          <p:nvPr/>
        </p:nvPicPr>
        <p:blipFill>
          <a:blip r:embed="rId2"/>
          <a:stretch/>
        </p:blipFill>
        <p:spPr>
          <a:xfrm>
            <a:off x="1028880" y="38358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8"/>
          <p:cNvSpPr/>
          <p:nvPr/>
        </p:nvSpPr>
        <p:spPr>
          <a:xfrm>
            <a:off x="1828800" y="3502080"/>
            <a:ext cx="9052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Amazon Aurora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1828800" y="3904560"/>
            <a:ext cx="905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Banco de dados relacional de alta disponibilidade para perfil do jogador, inventário e transações financeiras.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548640" y="4937760"/>
            <a:ext cx="10606680" cy="1416960"/>
          </a:xfrm>
          <a:prstGeom prst="roundRect">
            <a:avLst>
              <a:gd name="adj" fmla="val 7742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822960" y="5230440"/>
            <a:ext cx="822600" cy="82260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2" descr="/home/claude/global-games/icons/layers_FFFFFF.png"/>
          <p:cNvPicPr/>
          <p:nvPr/>
        </p:nvPicPr>
        <p:blipFill>
          <a:blip r:embed="rId3"/>
          <a:stretch/>
        </p:blipFill>
        <p:spPr>
          <a:xfrm>
            <a:off x="1028880" y="54360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12"/>
          <p:cNvSpPr/>
          <p:nvPr/>
        </p:nvSpPr>
        <p:spPr>
          <a:xfrm>
            <a:off x="1828800" y="5102280"/>
            <a:ext cx="9052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Amazon DynamoDB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1828800" y="5504760"/>
            <a:ext cx="905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Banco NoSQL de baixíssima latência para o estado das partidas em tempo real.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ESCOLHA DOS PROVEDORES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GCP — Inteligência artificial e dados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548640" y="1828800"/>
            <a:ext cx="10606680" cy="173700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"/>
          <p:cNvSpPr/>
          <p:nvPr/>
        </p:nvSpPr>
        <p:spPr>
          <a:xfrm>
            <a:off x="868680" y="2240280"/>
            <a:ext cx="914040" cy="914040"/>
          </a:xfrm>
          <a:prstGeom prst="ellipse">
            <a:avLst/>
          </a:prstGeom>
          <a:solidFill>
            <a:srgbClr val="428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/home/claude/global-games/icons/cpu_FFFFFF.png"/>
          <p:cNvPicPr/>
          <p:nvPr/>
        </p:nvPicPr>
        <p:blipFill>
          <a:blip r:embed="rId1"/>
          <a:stretch/>
        </p:blipFill>
        <p:spPr>
          <a:xfrm>
            <a:off x="1097280" y="2468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4"/>
          <p:cNvSpPr/>
          <p:nvPr/>
        </p:nvSpPr>
        <p:spPr>
          <a:xfrm>
            <a:off x="2011680" y="2057400"/>
            <a:ext cx="886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Vertex AI + Cloud Natural Language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2011680" y="2541960"/>
            <a:ext cx="8869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Comportamentos complexos de NPCs, algoritmos de detecção de trapaças (anti-cheat) e moderação automatizada do chat em tempo real.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548640" y="3794760"/>
            <a:ext cx="10606680" cy="173700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868680" y="4206240"/>
            <a:ext cx="914040" cy="914040"/>
          </a:xfrm>
          <a:prstGeom prst="ellipse">
            <a:avLst/>
          </a:prstGeom>
          <a:solidFill>
            <a:srgbClr val="428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1" descr="/home/claude/global-games/icons/chart_FFFFFF.png"/>
          <p:cNvPicPr/>
          <p:nvPr/>
        </p:nvPicPr>
        <p:blipFill>
          <a:blip r:embed="rId2"/>
          <a:stretch/>
        </p:blipFill>
        <p:spPr>
          <a:xfrm>
            <a:off x="1097280" y="4434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8"/>
          <p:cNvSpPr/>
          <p:nvPr/>
        </p:nvSpPr>
        <p:spPr>
          <a:xfrm>
            <a:off x="2011680" y="4023360"/>
            <a:ext cx="886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BigQuery + Looker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2011680" y="4507920"/>
            <a:ext cx="8869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Análise de bilhões de eventos de telemetria para entender comportamento dos usuários e balancear o jogo continuamente.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INTEGRAÇÃO PRÁTICA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71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Como as duas nuvens se comunicam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548640" y="2331720"/>
            <a:ext cx="2742840" cy="202968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777240" y="256032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0" descr="/home/claude/global-games/icons/users_FFFFFF.png"/>
          <p:cNvPicPr/>
          <p:nvPr/>
        </p:nvPicPr>
        <p:blipFill>
          <a:blip r:embed="rId1"/>
          <a:stretch/>
        </p:blipFill>
        <p:spPr>
          <a:xfrm>
            <a:off x="890280" y="267336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4"/>
          <p:cNvSpPr/>
          <p:nvPr/>
        </p:nvSpPr>
        <p:spPr>
          <a:xfrm>
            <a:off x="685800" y="3191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Jogador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731520" y="344952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Conecta-se e autentica diretamente nos servidores.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3319200" y="2834640"/>
            <a:ext cx="27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3611880" y="2331720"/>
            <a:ext cx="2742840" cy="202968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 w="1905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3840480" y="2560320"/>
            <a:ext cx="502560" cy="502560"/>
          </a:xfrm>
          <a:prstGeom prst="ellipse">
            <a:avLst/>
          </a:prstGeom>
          <a:solidFill>
            <a:srgbClr val="FF9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1" descr="/home/claude/global-games/icons/server_FFFFFF.png"/>
          <p:cNvPicPr/>
          <p:nvPr/>
        </p:nvPicPr>
        <p:blipFill>
          <a:blip r:embed="rId2"/>
          <a:stretch/>
        </p:blipFill>
        <p:spPr>
          <a:xfrm>
            <a:off x="3953520" y="267336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9"/>
          <p:cNvSpPr/>
          <p:nvPr/>
        </p:nvSpPr>
        <p:spPr>
          <a:xfrm>
            <a:off x="3794760" y="3200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AWS · GameLift + Aurora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3794760" y="355716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Partidas em tempo real e salvamento de dados críticos.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6382440" y="2834640"/>
            <a:ext cx="27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6675120" y="2331720"/>
            <a:ext cx="2742840" cy="202968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 w="19050">
            <a:solidFill>
              <a:srgbClr val="4285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6903720" y="2560320"/>
            <a:ext cx="502560" cy="502560"/>
          </a:xfrm>
          <a:prstGeom prst="ellipse">
            <a:avLst/>
          </a:prstGeom>
          <a:solidFill>
            <a:srgbClr val="428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2" descr="/home/claude/global-games/icons/cpu_FFFFFF.png"/>
          <p:cNvPicPr/>
          <p:nvPr/>
        </p:nvPicPr>
        <p:blipFill>
          <a:blip r:embed="rId3"/>
          <a:stretch/>
        </p:blipFill>
        <p:spPr>
          <a:xfrm>
            <a:off x="7016760" y="267336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4"/>
          <p:cNvSpPr/>
          <p:nvPr/>
        </p:nvSpPr>
        <p:spPr>
          <a:xfrm>
            <a:off x="6858000" y="3200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GCP · Vertex AI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6858000" y="355716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Detecção de trapaças e ajustes dinâmicos do jogo.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9445680" y="2834640"/>
            <a:ext cx="27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9189720" y="2331720"/>
            <a:ext cx="2450160" cy="202968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 w="19050">
            <a:solidFill>
              <a:srgbClr val="16C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9418320" y="2560320"/>
            <a:ext cx="502560" cy="50256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3" descr="/home/claude/global-games/icons/chart_FFFFFF.png"/>
          <p:cNvPicPr/>
          <p:nvPr/>
        </p:nvPicPr>
        <p:blipFill>
          <a:blip r:embed="rId4"/>
          <a:stretch/>
        </p:blipFill>
        <p:spPr>
          <a:xfrm>
            <a:off x="9531360" y="267336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9"/>
          <p:cNvSpPr/>
          <p:nvPr/>
        </p:nvSpPr>
        <p:spPr>
          <a:xfrm>
            <a:off x="9372600" y="3200400"/>
            <a:ext cx="208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BigQuery · Looker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9372600" y="3557160"/>
            <a:ext cx="208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Telemetria e analytics para balanceamento contínuo.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1"/>
          <p:cNvSpPr/>
          <p:nvPr/>
        </p:nvSpPr>
        <p:spPr>
          <a:xfrm>
            <a:off x="548640" y="4709160"/>
            <a:ext cx="11063880" cy="141696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822960" y="4965120"/>
            <a:ext cx="594000" cy="594000"/>
          </a:xfrm>
          <a:prstGeom prst="ellipse">
            <a:avLst/>
          </a:prstGeom>
          <a:solidFill>
            <a:srgbClr val="16C7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4" descr="/home/claude/global-games/icons/link_1E2761.png"/>
          <p:cNvPicPr/>
          <p:nvPr/>
        </p:nvPicPr>
        <p:blipFill>
          <a:blip r:embed="rId5"/>
          <a:stretch/>
        </p:blipFill>
        <p:spPr>
          <a:xfrm>
            <a:off x="971640" y="511380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3"/>
          <p:cNvSpPr/>
          <p:nvPr/>
        </p:nvSpPr>
        <p:spPr>
          <a:xfrm>
            <a:off x="1600200" y="4709160"/>
            <a:ext cx="9783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Os dados de desempenho e eventos do jogo trafegam da AWS para a GCP por chamadas de API otimizadas e conexões privadas dedicadas, garantindo acesso a tecnologias de ponta em cada frente, sem aprisionamento tecnológico (vendor lock-in).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3B8"/>
                </a:solidFill>
                <a:effectLst/>
                <a:uFillTx/>
                <a:latin typeface="Calibri"/>
                <a:ea typeface="Calibri"/>
              </a:rPr>
              <a:t>Global Games — Arquitetura Multicloud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3B8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-1463040" y="-1645920"/>
            <a:ext cx="4571640" cy="4571640"/>
          </a:xfrm>
          <a:prstGeom prst="ellipse">
            <a:avLst/>
          </a:prstGeom>
          <a:solidFill>
            <a:srgbClr val="1E2761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"/>
          <p:cNvSpPr/>
          <p:nvPr/>
        </p:nvSpPr>
        <p:spPr>
          <a:xfrm>
            <a:off x="9601200" y="4114800"/>
            <a:ext cx="4114440" cy="4114440"/>
          </a:xfrm>
          <a:prstGeom prst="ellipse">
            <a:avLst/>
          </a:prstGeom>
          <a:solidFill>
            <a:srgbClr val="16C79A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822960" y="640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16C79A"/>
                </a:solidFill>
                <a:effectLst/>
                <a:uFillTx/>
                <a:latin typeface="Calibri"/>
                <a:ea typeface="Calibri"/>
              </a:rPr>
              <a:t>CONCLUSÃO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7772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Uma arquitetura pronta para escalar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822960" y="214884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0" descr="/home/claude/global-games/icons/link_16C79A.png"/>
          <p:cNvPicPr/>
          <p:nvPr/>
        </p:nvPicPr>
        <p:blipFill>
          <a:blip r:embed="rId1"/>
          <a:stretch/>
        </p:blipFill>
        <p:spPr>
          <a:xfrm>
            <a:off x="936000" y="226188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5"/>
          <p:cNvSpPr/>
          <p:nvPr/>
        </p:nvSpPr>
        <p:spPr>
          <a:xfrm>
            <a:off x="1508760" y="216720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 aprisionamento tecnológico, migração e negociação mais flexíveis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822960" y="289872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1" descr="/home/claude/global-games/icons/zap_16C79A.png"/>
          <p:cNvPicPr/>
          <p:nvPr/>
        </p:nvPicPr>
        <p:blipFill>
          <a:blip r:embed="rId2"/>
          <a:stretch/>
        </p:blipFill>
        <p:spPr>
          <a:xfrm>
            <a:off x="936000" y="301176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7"/>
          <p:cNvSpPr/>
          <p:nvPr/>
        </p:nvSpPr>
        <p:spPr>
          <a:xfrm>
            <a:off x="1508760" y="291708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Alta disponibilidade, sem ponto único de falha derrubando todos os jogos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822960" y="364860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2" descr="/home/claude/global-games/icons/cpu_16C79A.png"/>
          <p:cNvPicPr/>
          <p:nvPr/>
        </p:nvPicPr>
        <p:blipFill>
          <a:blip r:embed="rId3"/>
          <a:stretch/>
        </p:blipFill>
        <p:spPr>
          <a:xfrm>
            <a:off x="936000" y="376164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9"/>
          <p:cNvSpPr/>
          <p:nvPr/>
        </p:nvSpPr>
        <p:spPr>
          <a:xfrm>
            <a:off x="1508760" y="366660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Acesso à melhor IA do mercado, independente do provedor de infraestrutura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822960" y="439812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3" descr="/home/claude/global-games/icons/shield_16C79A.png"/>
          <p:cNvPicPr/>
          <p:nvPr/>
        </p:nvPicPr>
        <p:blipFill>
          <a:blip r:embed="rId4"/>
          <a:stretch/>
        </p:blipFill>
        <p:spPr>
          <a:xfrm>
            <a:off x="936000" y="451152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11"/>
          <p:cNvSpPr/>
          <p:nvPr/>
        </p:nvSpPr>
        <p:spPr>
          <a:xfrm>
            <a:off x="1508760" y="441648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Governança de segurança padronizada acima de AWS e GCP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822960" y="6126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C6580"/>
                </a:solidFill>
                <a:effectLst/>
                <a:uFillTx/>
                <a:latin typeface="Calibri"/>
                <a:ea typeface="Calibri"/>
              </a:rPr>
              <a:t>Grupo 4  ·  Global Games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Application>LibreOffice/26.2.6.3$Linux_X86_64 LibreOffice_project/620$Build-3</Application>
  <AppVersion>15.0000</AppVersion>
  <Words>1093</Words>
  <Paragraphs>153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2026-09-09T01:54:10Z</dcterms:created>
  <dc:creator>PptxGenJS</dc:creator>
  <dc:description/>
  <dc:language>pt-BR</dc:language>
  <cp:lastModifiedBy/>
  <dcterms:modified xsi:type="dcterms:W3CDTF">2026-09-13T23:18:11Z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